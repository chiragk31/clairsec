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6FEB"/>
                </a:solidFill>
                <a:latin typeface="Calibri"/>
              </a:rPr>
              <a:t>MID-PROJECT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5740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141B26"/>
                </a:solidFill>
                <a:latin typeface="Calibri"/>
              </a:rPr>
              <a:t>ClairSec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035808"/>
            <a:ext cx="9692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5A6675"/>
                </a:solidFill>
                <a:latin typeface="Calibri"/>
              </a:rPr>
              <a:t>An adversarial multi-agent platform that finds, fixes and verifies REST API vulnerabilities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114800"/>
            <a:ext cx="822960" cy="320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452628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41B26"/>
                </a:solidFill>
                <a:latin typeface="Calibri"/>
              </a:rPr>
              <a:t>Zaid Sayyed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1B26"/>
                </a:solidFill>
                <a:latin typeface="Calibri"/>
              </a:rPr>
              <a:t>Chirag Kadam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98714" y="3701059"/>
            <a:ext cx="2834640" cy="237744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67294" y="3975379"/>
            <a:ext cx="2286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 dirty="0">
                <a:solidFill>
                  <a:srgbClr val="141B26"/>
                </a:solidFill>
                <a:latin typeface="Calibri"/>
              </a:rPr>
              <a:t>Builder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 dirty="0">
                <a:solidFill>
                  <a:srgbClr val="141B26"/>
                </a:solidFill>
                <a:latin typeface="Calibri"/>
              </a:rPr>
              <a:t>Attacker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 dirty="0">
                <a:solidFill>
                  <a:srgbClr val="141B26"/>
                </a:solidFill>
                <a:latin typeface="Calibri"/>
              </a:rPr>
              <a:t>Evaluator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 dirty="0">
                <a:solidFill>
                  <a:srgbClr val="141B26"/>
                </a:solidFill>
                <a:latin typeface="Calibri"/>
              </a:rPr>
              <a:t>Fixer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dirty="0">
                <a:solidFill>
                  <a:srgbClr val="1F6FEB"/>
                </a:solidFill>
                <a:latin typeface="Calibri"/>
              </a:rPr>
              <a:t>Verifier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Calibri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B26"/>
                </a:solidFill>
                <a:latin typeface="Calibri"/>
              </a:rPr>
              <a:t>The problem we set out to solve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81328"/>
            <a:ext cx="822960" cy="320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6035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A6675"/>
                </a:solidFill>
                <a:latin typeface="Calibri"/>
              </a:rPr>
              <a:t>Most web applications today are collections of REST APIs. The security burden has moved to that API layer — and the most common flaw there is not a coding mistake a tool can pattern-match.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145536"/>
            <a:ext cx="82296" cy="82296"/>
          </a:xfrm>
          <a:prstGeom prst="roundRect">
            <a:avLst>
              <a:gd name="adj" fmla="val 6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14984" y="3026664"/>
            <a:ext cx="57972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41B26"/>
                </a:solidFill>
                <a:latin typeface="Calibri"/>
              </a:rPr>
              <a:t>Broken authorization is #1.  </a:t>
            </a:r>
            <a:r>
              <a:rPr sz="1500">
                <a:solidFill>
                  <a:srgbClr val="5A6675"/>
                </a:solidFill>
                <a:latin typeface="Calibri"/>
              </a:rPr>
              <a:t>The top API risk is code that checks who you are, but forgets to check what you're allowed to touch.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986784"/>
            <a:ext cx="82296" cy="82296"/>
          </a:xfrm>
          <a:prstGeom prst="roundRect">
            <a:avLst>
              <a:gd name="adj" fmla="val 6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14984" y="3867912"/>
            <a:ext cx="57972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41B26"/>
                </a:solidFill>
                <a:latin typeface="Calibri"/>
              </a:rPr>
              <a:t>It looks completely normal.  </a:t>
            </a:r>
            <a:r>
              <a:rPr sz="1500">
                <a:solidFill>
                  <a:srgbClr val="5A6675"/>
                </a:solidFill>
                <a:latin typeface="Calibri"/>
              </a:rPr>
              <a:t>The request is valid, authenticated, passes a firewall, returns 200. Only the meaning is wrong.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828032"/>
            <a:ext cx="82296" cy="82296"/>
          </a:xfrm>
          <a:prstGeom prst="roundRect">
            <a:avLst>
              <a:gd name="adj" fmla="val 6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14984" y="4709160"/>
            <a:ext cx="57972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41B26"/>
                </a:solidFill>
                <a:latin typeface="Calibri"/>
              </a:rPr>
              <a:t>So scanners miss it.  </a:t>
            </a:r>
            <a:r>
              <a:rPr sz="1500">
                <a:solidFill>
                  <a:srgbClr val="5A6675"/>
                </a:solidFill>
                <a:latin typeface="Calibri"/>
              </a:rPr>
              <a:t>There is no signature for "this user shouldn't own this record" — it depends on the app's own data model.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691640"/>
            <a:ext cx="4114800" cy="32004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35240" y="1874519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000" b="1" i="0">
                <a:solidFill>
                  <a:srgbClr val="8C96A3"/>
                </a:solidFill>
                <a:latin typeface="Calibri"/>
              </a:rPr>
              <a:t>WHAT A VULNERABLE ENDPOINT LOOKS LIKE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286000"/>
            <a:ext cx="35661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5A6675"/>
                </a:solidFill>
                <a:latin typeface="Consolas"/>
              </a:rPr>
              <a:t>@app.get("/documents/{doc_id}")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5A6675"/>
                </a:solidFill>
                <a:latin typeface="Consolas"/>
              </a:rPr>
              <a:t>def read(doc_id, user = Depends(auth)):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5A6675"/>
                </a:solidFill>
                <a:latin typeface="Consolas"/>
              </a:rPr>
              <a:t>    doc = DOCUMENTS.get(doc_id)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CF222E"/>
                </a:solidFill>
                <a:latin typeface="Consolas"/>
              </a:rPr>
              <a:t>    # authenticated, but never checks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CF222E"/>
                </a:solidFill>
                <a:latin typeface="Consolas"/>
              </a:rPr>
              <a:t>    # whether this user owns the doc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5A6675"/>
                </a:solidFill>
                <a:latin typeface="Consolas"/>
              </a:rPr>
              <a:t>    return doc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416052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F222E"/>
                </a:solidFill>
                <a:latin typeface="Calibri"/>
              </a:rPr>
              <a:t>Any logged-in user can read anyone's document.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29107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C96A3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Calibri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B26"/>
                </a:solidFill>
                <a:latin typeface="Calibri"/>
              </a:rPr>
              <a:t>Why the existing options fall short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81328"/>
            <a:ext cx="822960" cy="320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3401568" cy="3108960"/>
          </a:xfrm>
          <a:prstGeom prst="roundRect">
            <a:avLst>
              <a:gd name="adj" fmla="val 6000"/>
            </a:avLst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3401568" cy="68580"/>
          </a:xfrm>
          <a:prstGeom prst="rect">
            <a:avLst/>
          </a:prstGeom>
          <a:solidFill>
            <a:srgbClr val="CF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2852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F222E"/>
                </a:solidFill>
                <a:latin typeface="Calibri"/>
              </a:rPr>
              <a:t>Traditional scanners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514600"/>
            <a:ext cx="285292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6675"/>
                </a:solidFill>
                <a:latin typeface="Calibri"/>
              </a:rPr>
              <a:t>Reliable and repeatable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081528"/>
            <a:ext cx="285292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6675"/>
                </a:solidFill>
                <a:latin typeface="Calibri"/>
              </a:rPr>
              <a:t>But cannot reason about your app's ownership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648456"/>
            <a:ext cx="285292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6675"/>
                </a:solidFill>
                <a:latin typeface="Calibri"/>
              </a:rPr>
              <a:t>So authorization flaws slip through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43984" y="1691640"/>
            <a:ext cx="3401568" cy="3108960"/>
          </a:xfrm>
          <a:prstGeom prst="roundRect">
            <a:avLst>
              <a:gd name="adj" fmla="val 6000"/>
            </a:avLst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43984" y="1691640"/>
            <a:ext cx="3401568" cy="68580"/>
          </a:xfrm>
          <a:prstGeom prst="rect">
            <a:avLst/>
          </a:prstGeom>
          <a:solidFill>
            <a:srgbClr val="9A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18304" y="1965960"/>
            <a:ext cx="2852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9A6600"/>
                </a:solidFill>
                <a:latin typeface="Calibri"/>
              </a:rPr>
              <a:t>A single AI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8304" y="2514600"/>
            <a:ext cx="285292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6675"/>
                </a:solidFill>
                <a:latin typeface="Calibri"/>
              </a:rPr>
              <a:t>Can read and reason about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8304" y="3081528"/>
            <a:ext cx="285292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6675"/>
                </a:solidFill>
                <a:latin typeface="Calibri"/>
              </a:rPr>
              <a:t>But reports things that aren't really there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18304" y="3648456"/>
            <a:ext cx="285292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6675"/>
                </a:solidFill>
                <a:latin typeface="Calibri"/>
              </a:rPr>
              <a:t>And confirms its own guesses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0728" y="1691640"/>
            <a:ext cx="3401568" cy="3108960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10728" y="1691640"/>
            <a:ext cx="3401568" cy="68580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85048" y="1965960"/>
            <a:ext cx="2852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7F37"/>
                </a:solidFill>
                <a:latin typeface="Calibri"/>
              </a:rPr>
              <a:t>What we wanted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2514600"/>
            <a:ext cx="285292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6675"/>
                </a:solidFill>
                <a:latin typeface="Calibri"/>
              </a:rPr>
              <a:t>Reason like the AI approach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8" y="3081528"/>
            <a:ext cx="285292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6675"/>
                </a:solidFill>
                <a:latin typeface="Calibri"/>
              </a:rPr>
              <a:t>Prove it like a real attacker would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5048" y="3648456"/>
            <a:ext cx="285292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6675"/>
                </a:solidFill>
                <a:latin typeface="Calibri"/>
              </a:rPr>
              <a:t>Judge it with something independent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166360"/>
            <a:ext cx="10637215" cy="86868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7280" y="5321808"/>
            <a:ext cx="99971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6FEB"/>
                </a:solidFill>
                <a:latin typeface="Calibri"/>
              </a:rPr>
              <a:t>Our approach: never report a vulnerability the system hasn't actually exploited — and never let the agent that found it be the one that confirms it.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29107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C96A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Calibri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B26"/>
                </a:solidFill>
                <a:latin typeface="Calibri"/>
              </a:rPr>
              <a:t>What ClairSec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81328"/>
            <a:ext cx="822960" cy="320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675"/>
                </a:solidFill>
                <a:latin typeface="Calibri"/>
              </a:rPr>
              <a:t>You point it at a FastAPI project. It runs the app in a sealed container and puts five specialists to work on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743200"/>
            <a:ext cx="1975104" cy="169164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743200"/>
            <a:ext cx="1975104" cy="685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292608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8C96A3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20040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41B26"/>
                </a:solidFill>
                <a:latin typeface="Calibri"/>
              </a:rPr>
              <a:t>Builder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547872"/>
            <a:ext cx="1645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675"/>
                </a:solidFill>
                <a:latin typeface="Calibri"/>
              </a:rPr>
              <a:t>Learns the API — routes, logins, who owns what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802636" y="3502152"/>
            <a:ext cx="310896" cy="237744"/>
          </a:xfrm>
          <a:prstGeom prst="rightArrow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054096" y="2743200"/>
            <a:ext cx="1975104" cy="169164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054096" y="2743200"/>
            <a:ext cx="1975104" cy="685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18688" y="292608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8C96A3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8688" y="320040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41B26"/>
                </a:solidFill>
                <a:latin typeface="Calibri"/>
              </a:rPr>
              <a:t>Attacker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18688" y="3547872"/>
            <a:ext cx="1645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675"/>
                </a:solidFill>
                <a:latin typeface="Calibri"/>
              </a:rPr>
              <a:t>Actually attacks it, and records every request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079492" y="3502152"/>
            <a:ext cx="310896" cy="237744"/>
          </a:xfrm>
          <a:prstGeom prst="rightArrow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330952" y="2743200"/>
            <a:ext cx="1975104" cy="169164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330952" y="2743200"/>
            <a:ext cx="1975104" cy="685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95544" y="292608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8C96A3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95544" y="320040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41B26"/>
                </a:solidFill>
                <a:latin typeface="Calibri"/>
              </a:rPr>
              <a:t>Evaluator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95544" y="3547872"/>
            <a:ext cx="1645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675"/>
                </a:solidFill>
                <a:latin typeface="Calibri"/>
              </a:rPr>
              <a:t>Judges the evidence, independently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356348" y="3502152"/>
            <a:ext cx="310896" cy="237744"/>
          </a:xfrm>
          <a:prstGeom prst="rightArrow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607808" y="2743200"/>
            <a:ext cx="1975104" cy="169164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607808" y="2743200"/>
            <a:ext cx="1975104" cy="685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0" y="292608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8C96A3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20040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41B26"/>
                </a:solidFill>
                <a:latin typeface="Calibri"/>
              </a:rPr>
              <a:t>Fixer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3547872"/>
            <a:ext cx="1645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675"/>
                </a:solidFill>
                <a:latin typeface="Calibri"/>
              </a:rPr>
              <a:t>Writes a patch for what was confirmed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633204" y="3502152"/>
            <a:ext cx="310896" cy="237744"/>
          </a:xfrm>
          <a:prstGeom prst="rightArrow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884664" y="2743200"/>
            <a:ext cx="1975104" cy="169164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884664" y="2743200"/>
            <a:ext cx="1975104" cy="68580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049256" y="292608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8C96A3"/>
                </a:solidFill>
                <a:latin typeface="Calibri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49256" y="320040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41B26"/>
                </a:solidFill>
                <a:latin typeface="Calibri"/>
              </a:rPr>
              <a:t>Verifier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49256" y="3547872"/>
            <a:ext cx="1645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675"/>
                </a:solidFill>
                <a:latin typeface="Calibri"/>
              </a:rPr>
              <a:t>Re-attacks it, and checks nothing broke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4892040"/>
            <a:ext cx="10637215" cy="1005840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97280" y="5074920"/>
            <a:ext cx="999713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7F37"/>
                </a:solidFill>
                <a:latin typeface="Calibri"/>
              </a:rPr>
              <a:t>Throughout all of this, your original code is never touched. Every change happens inside an isolated copy.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02975" y="629107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C96A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Calibri"/>
              </a:rPr>
              <a:t>KEY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B26"/>
                </a:solidFill>
                <a:latin typeface="Calibri"/>
              </a:rPr>
              <a:t>The decision everything rests 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81328"/>
            <a:ext cx="822960" cy="320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41B26"/>
                </a:solidFill>
                <a:latin typeface="Calibri"/>
              </a:rPr>
              <a:t>An AI never decides whether a security test passed. Ordinary code does, by looking at what actually came back over HTTP.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697480"/>
            <a:ext cx="5349240" cy="2057400"/>
          </a:xfrm>
          <a:prstGeom prst="roundRect">
            <a:avLst>
              <a:gd name="adj" fmla="val 6000"/>
            </a:avLst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9848" y="28803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CF222E"/>
                </a:solidFill>
                <a:latin typeface="Calibri"/>
              </a:rPr>
              <a:t>IF THE MODEL JUDGED ITSELF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3246120"/>
            <a:ext cx="4800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A6675"/>
                </a:solidFill>
                <a:latin typeface="Calibri"/>
              </a:rPr>
              <a:t>We would only be measuring whether the AI agrees with itself. It could confidently report a vulnerability that was never really there — and nothing in the system could catch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2697480"/>
            <a:ext cx="4983480" cy="2057400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39128" y="288036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1A7F37"/>
                </a:solidFill>
                <a:latin typeface="Calibri"/>
              </a:rPr>
              <a:t>HOW WE ACTUALLY DO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9128" y="3246120"/>
            <a:ext cx="44348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A6675"/>
                </a:solidFill>
                <a:latin typeface="Calibri"/>
              </a:rPr>
              <a:t>User A asks for User B's document. If the reply is 200 and contains B's data, that's a real flaw. That check is plain code — same input, same answer, every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074920"/>
            <a:ext cx="10637215" cy="9144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5239512"/>
            <a:ext cx="99971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41B26"/>
                </a:solidFill>
                <a:latin typeface="Calibri"/>
              </a:rPr>
              <a:t>The AI is used where it's genuinely good — understanding code and writing fixes. It is kept away from deciding what counts as proof.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29107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C96A3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B26"/>
                </a:solidFill>
                <a:latin typeface="Calibri"/>
              </a:rPr>
              <a:t>How it's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81328"/>
            <a:ext cx="822960" cy="320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6766560" cy="105156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68580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837944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41B26"/>
                </a:solidFill>
                <a:latin typeface="Calibri"/>
              </a:rPr>
              <a:t>Desktop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21992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6FEB"/>
                </a:solidFill>
                <a:latin typeface="Consolas"/>
              </a:rPr>
              <a:t>Flutter · Dart · Riverpod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020824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675"/>
                </a:solidFill>
                <a:latin typeface="Calibri"/>
              </a:rPr>
              <a:t>What the user sees and clicks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26080"/>
            <a:ext cx="6766560" cy="105156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2926080"/>
            <a:ext cx="68580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3072384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41B26"/>
                </a:solidFill>
                <a:latin typeface="Calibri"/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456432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6FEB"/>
                </a:solidFill>
                <a:latin typeface="Consolas"/>
              </a:rPr>
              <a:t>Python · FastAPI · MongoDB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255264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675"/>
                </a:solidFill>
                <a:latin typeface="Calibri"/>
              </a:rPr>
              <a:t>Runs the agents, owns all the logic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160520"/>
            <a:ext cx="6766560" cy="105156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" y="4160520"/>
            <a:ext cx="68580" cy="1051560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4306824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41B26"/>
                </a:solidFill>
                <a:latin typeface="Calibri"/>
              </a:rPr>
              <a:t>Isolation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690872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7F37"/>
                </a:solidFill>
                <a:latin typeface="Consolas"/>
              </a:rPr>
              <a:t>Docker · internal network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4489704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675"/>
                </a:solidFill>
                <a:latin typeface="Calibri"/>
              </a:rPr>
              <a:t>Where the target app actually runs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1691640"/>
            <a:ext cx="3337560" cy="333756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66760" y="1874519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1F6FEB"/>
                </a:solidFill>
                <a:latin typeface="Calibri"/>
              </a:rPr>
              <a:t>SAFETY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286000"/>
            <a:ext cx="28346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675"/>
                </a:solidFill>
                <a:latin typeface="Calibri"/>
              </a:rPr>
              <a:t>Target runs with no network access 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999232"/>
            <a:ext cx="28346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675"/>
                </a:solidFill>
                <a:latin typeface="Calibri"/>
              </a:rPr>
              <a:t>No root, no writable filesystem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712464"/>
            <a:ext cx="28346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675"/>
                </a:solidFill>
                <a:latin typeface="Calibri"/>
              </a:rPr>
              <a:t>The AI can propose, never execute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4425696"/>
            <a:ext cx="28346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675"/>
                </a:solidFill>
                <a:latin typeface="Calibri"/>
              </a:rPr>
              <a:t>Your source is never modified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29107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C96A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Calibri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B26"/>
                </a:solidFill>
                <a:latin typeface="Calibri"/>
              </a:rPr>
              <a:t>How we know it actually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81328"/>
            <a:ext cx="822960" cy="320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675"/>
                </a:solidFill>
                <a:latin typeface="Calibri"/>
              </a:rPr>
              <a:t>We built two versions of the same small API — so we can measure both what it catches and what it wrongly flags.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606040"/>
            <a:ext cx="5349240" cy="2286000"/>
          </a:xfrm>
          <a:prstGeom prst="roundRect">
            <a:avLst>
              <a:gd name="adj" fmla="val 6000"/>
            </a:avLst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9848" y="278892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CF222E"/>
                </a:solidFill>
                <a:latin typeface="Calibri"/>
              </a:rPr>
              <a:t>The vulnerable version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3291840"/>
            <a:ext cx="4800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6675"/>
                </a:solidFill>
                <a:latin typeface="Calibri"/>
              </a:rPr>
              <a:t>3 flaws planted on purpose, recorded before any 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803904"/>
            <a:ext cx="4800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6675"/>
                </a:solidFill>
                <a:latin typeface="Calibri"/>
              </a:rPr>
              <a:t>Broken authorization · mass assignment · misconfiguration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4315968"/>
            <a:ext cx="4800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6675"/>
                </a:solidFill>
                <a:latin typeface="Calibri"/>
              </a:rPr>
              <a:t>Every flaw has a script that proves it is exploitable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2606040"/>
            <a:ext cx="4983480" cy="2286000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39128" y="278892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1A7F37"/>
                </a:solidFill>
                <a:latin typeface="Calibri"/>
              </a:rPr>
              <a:t>The secure 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9128" y="3291840"/>
            <a:ext cx="4434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6675"/>
                </a:solidFill>
                <a:latin typeface="Calibri"/>
              </a:rPr>
              <a:t>Same endpoints, same behaviour — but written correctly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9128" y="3803904"/>
            <a:ext cx="4434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6675"/>
                </a:solidFill>
                <a:latin typeface="Calibri"/>
              </a:rPr>
              <a:t>Anything reported here is a false alarm, by definition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9128" y="4315968"/>
            <a:ext cx="4434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6675"/>
                </a:solidFill>
                <a:latin typeface="Calibri"/>
              </a:rPr>
              <a:t>Without this, a tool could 'pass' by flagging everything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212080"/>
            <a:ext cx="10637215" cy="82296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5367528"/>
            <a:ext cx="99971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41B26"/>
                </a:solidFill>
                <a:latin typeface="Calibri"/>
              </a:rPr>
              <a:t>We wrote both applications ourselves so the AI could not have seen them, or their fixes, anywhere before.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29107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C96A3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Calibri"/>
              </a:rPr>
              <a:t>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B26"/>
                </a:solidFill>
                <a:latin typeface="Calibri"/>
              </a:rPr>
              <a:t>Results so far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81328"/>
            <a:ext cx="822960" cy="320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2606040" cy="146304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892808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1F6FEB"/>
                </a:solidFill>
                <a:latin typeface="Calibri"/>
              </a:rPr>
              <a:t>3 /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41448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675"/>
                </a:solidFill>
                <a:latin typeface="Calibri"/>
              </a:rPr>
              <a:t>Planted flaws found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15768"/>
            <a:ext cx="2606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96A3"/>
                </a:solidFill>
                <a:latin typeface="Calibri"/>
              </a:rPr>
              <a:t>on the vulnerable app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691640"/>
            <a:ext cx="2606040" cy="1463040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66160" y="1892808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1A7F37"/>
                </a:solidFill>
                <a:latin typeface="Calibri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441448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675"/>
                </a:solidFill>
                <a:latin typeface="Calibri"/>
              </a:rPr>
              <a:t>False alarms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715768"/>
            <a:ext cx="2606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96A3"/>
                </a:solidFill>
                <a:latin typeface="Calibri"/>
              </a:rPr>
              <a:t>on the secure app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691640"/>
            <a:ext cx="2606040" cy="1463040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892808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1A7F37"/>
                </a:solidFill>
                <a:latin typeface="Calibri"/>
              </a:rPr>
              <a:t>3 /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441448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675"/>
                </a:solidFill>
                <a:latin typeface="Calibri"/>
              </a:rPr>
              <a:t>Fixes verified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715768"/>
            <a:ext cx="2606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96A3"/>
                </a:solidFill>
                <a:latin typeface="Calibri"/>
              </a:rPr>
              <a:t>attack blocked, app still works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691640"/>
            <a:ext cx="2240280" cy="146304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0" y="1892808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1F6FEB"/>
                </a:solidFill>
                <a:latin typeface="Calibri"/>
              </a:rPr>
              <a:t>~15s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441448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675"/>
                </a:solidFill>
                <a:latin typeface="Calibri"/>
              </a:rPr>
              <a:t>Full scan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715768"/>
            <a:ext cx="2240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96A3"/>
                </a:solidFill>
                <a:latin typeface="Calibri"/>
              </a:rPr>
              <a:t>after the first 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4290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C96A3"/>
                </a:solidFill>
                <a:latin typeface="Calibri"/>
              </a:rPr>
              <a:t>WHAT IT FOUND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794760"/>
            <a:ext cx="10637215" cy="566928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33272" y="3941064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1B26"/>
                </a:solidFill>
                <a:latin typeface="Calibri"/>
              </a:rPr>
              <a:t>Broken object authorization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3950208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675"/>
                </a:solidFill>
                <a:latin typeface="Consolas"/>
              </a:rPr>
              <a:t>GET /documents/{doc_id}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3950208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A3"/>
                </a:solidFill>
                <a:latin typeface="Consolas"/>
              </a:rPr>
              <a:t>CWE-639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64040" y="3913632"/>
            <a:ext cx="1554480" cy="329184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464040" y="3913632"/>
            <a:ext cx="1554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7F37"/>
                </a:solidFill>
                <a:latin typeface="Calibri"/>
              </a:rPr>
              <a:t>Fix verified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453128"/>
            <a:ext cx="10637215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4599432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1B26"/>
                </a:solidFill>
                <a:latin typeface="Calibri"/>
              </a:rPr>
              <a:t>Mass assignment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4608576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675"/>
                </a:solidFill>
                <a:latin typeface="Consolas"/>
              </a:rPr>
              <a:t>PUT /users/{user_id}/profile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4608576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A3"/>
                </a:solidFill>
                <a:latin typeface="Consolas"/>
              </a:rPr>
              <a:t>CWE-915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64040" y="4572000"/>
            <a:ext cx="1554480" cy="329184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464040" y="4572000"/>
            <a:ext cx="1554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7F37"/>
                </a:solidFill>
                <a:latin typeface="Calibri"/>
              </a:rPr>
              <a:t>Fix verified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5111496"/>
            <a:ext cx="10637215" cy="566928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33272" y="525780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1B26"/>
                </a:solidFill>
                <a:latin typeface="Calibri"/>
              </a:rPr>
              <a:t>Security misconfiguration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5266944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675"/>
                </a:solidFill>
                <a:latin typeface="Consolas"/>
              </a:rPr>
              <a:t>GET /debug/config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5266944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A3"/>
                </a:solidFill>
                <a:latin typeface="Consolas"/>
              </a:rPr>
              <a:t>CWE-16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464040" y="5230368"/>
            <a:ext cx="1554480" cy="329184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464040" y="5230368"/>
            <a:ext cx="1554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7F37"/>
                </a:solidFill>
                <a:latin typeface="Calibri"/>
              </a:rPr>
              <a:t>Fix verified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02975" y="629107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C96A3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Calibri"/>
              </a:rPr>
              <a:t>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B26"/>
                </a:solidFill>
                <a:latin typeface="Calibri"/>
              </a:rPr>
              <a:t>"Fixed" has to mean something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81328"/>
            <a:ext cx="822960" cy="320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332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675"/>
                </a:solidFill>
                <a:latin typeface="Calibri"/>
              </a:rPr>
              <a:t>Any tool can stop an attack by deleting the feature it targets. So we refuse to call a fix successful unless two things are true at once.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743200"/>
            <a:ext cx="10637215" cy="896112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51560" y="2990088"/>
            <a:ext cx="384048" cy="384048"/>
          </a:xfrm>
          <a:prstGeom prst="ellipse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99008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862072"/>
            <a:ext cx="9326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B26"/>
                </a:solidFill>
                <a:latin typeface="Calibri"/>
              </a:rPr>
              <a:t>The attack no longer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200400"/>
            <a:ext cx="9509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675"/>
                </a:solidFill>
                <a:latin typeface="Calibri"/>
              </a:rPr>
              <a:t>We rebuild the app with the patch and run the exact same attack again.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767328"/>
            <a:ext cx="10637215" cy="896112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51560" y="4014216"/>
            <a:ext cx="384048" cy="384048"/>
          </a:xfrm>
          <a:prstGeom prst="ellipse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401421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886200"/>
            <a:ext cx="9326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B26"/>
                </a:solidFill>
                <a:latin typeface="Calibri"/>
              </a:rPr>
              <a:t>Nothing else broke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224528"/>
            <a:ext cx="9509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675"/>
                </a:solidFill>
                <a:latin typeface="Calibri"/>
              </a:rPr>
              <a:t>We run the app's own test suite. All 6 tests still pass — the feature still works for legitimate users.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791456"/>
            <a:ext cx="10637215" cy="896112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51560" y="5038344"/>
            <a:ext cx="384048" cy="384048"/>
          </a:xfrm>
          <a:prstGeom prst="ellipse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5038344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910328"/>
            <a:ext cx="9326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B26"/>
                </a:solidFill>
                <a:latin typeface="Calibri"/>
              </a:rPr>
              <a:t>It holds up to a variation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248656"/>
            <a:ext cx="9509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675"/>
                </a:solidFill>
                <a:latin typeface="Calibri"/>
              </a:rPr>
              <a:t>We try a modified version of the attack, to check we fixed the real weakness and not just one route to 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870448"/>
            <a:ext cx="10637215" cy="566928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" y="5971032"/>
            <a:ext cx="999713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6FEB"/>
                </a:solidFill>
                <a:latin typeface="Calibri"/>
              </a:rPr>
              <a:t>All three checks passed on all three fixes.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29107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C96A3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Calibri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B26"/>
                </a:solidFill>
                <a:latin typeface="Calibri"/>
              </a:rPr>
              <a:t>What it looks like to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81328"/>
            <a:ext cx="822960" cy="320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2551176" cy="265176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78408" y="1901952"/>
            <a:ext cx="214884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06424" y="2048256"/>
            <a:ext cx="1179576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06424" y="2286000"/>
            <a:ext cx="1892808" cy="128016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06424" y="2523744"/>
            <a:ext cx="1892808" cy="128016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06424" y="2761488"/>
            <a:ext cx="1892808" cy="128016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78408" y="3310128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1B26"/>
                </a:solidFill>
                <a:latin typeface="Calibri"/>
              </a:rPr>
              <a:t>Projects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611880"/>
            <a:ext cx="2148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675"/>
                </a:solidFill>
                <a:latin typeface="Calibri"/>
              </a:rPr>
              <a:t>Pick a project. One click puts it in a sealed container.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355848" y="2926080"/>
            <a:ext cx="310896" cy="237744"/>
          </a:xfrm>
          <a:prstGeom prst="rightArrow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593592" y="1691640"/>
            <a:ext cx="2551176" cy="265176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794760" y="1901952"/>
            <a:ext cx="214884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922776" y="2048256"/>
            <a:ext cx="1179576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922776" y="2286000"/>
            <a:ext cx="1892808" cy="128016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922776" y="2523744"/>
            <a:ext cx="1892808" cy="128016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922776" y="2761488"/>
            <a:ext cx="1892808" cy="128016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94760" y="3310128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1B26"/>
                </a:solidFill>
                <a:latin typeface="Calibri"/>
              </a:rPr>
              <a:t>Scan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3611880"/>
            <a:ext cx="2148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675"/>
                </a:solidFill>
                <a:latin typeface="Calibri"/>
              </a:rPr>
              <a:t>Watch the five agents work through the pipeline.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172200" y="2926080"/>
            <a:ext cx="310896" cy="237744"/>
          </a:xfrm>
          <a:prstGeom prst="rightArrow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09944" y="1691640"/>
            <a:ext cx="2551176" cy="265176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611112" y="1901952"/>
            <a:ext cx="214884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739128" y="2048256"/>
            <a:ext cx="1179576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739128" y="2286000"/>
            <a:ext cx="1892808" cy="128016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739128" y="2523744"/>
            <a:ext cx="1892808" cy="128016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739128" y="2761488"/>
            <a:ext cx="1892808" cy="128016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11112" y="3310128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1B26"/>
                </a:solidFill>
                <a:latin typeface="Calibri"/>
              </a:rPr>
              <a:t>Vulnerabilities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11112" y="3611880"/>
            <a:ext cx="2148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675"/>
                </a:solidFill>
                <a:latin typeface="Calibri"/>
              </a:rPr>
              <a:t>Each finding with severity, endpoint and evidence.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8988552" y="2926080"/>
            <a:ext cx="310896" cy="237744"/>
          </a:xfrm>
          <a:prstGeom prst="rightArrow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226296" y="1691640"/>
            <a:ext cx="2551176" cy="265176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427464" y="1901952"/>
            <a:ext cx="214884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555480" y="2048256"/>
            <a:ext cx="1179576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555480" y="2286000"/>
            <a:ext cx="1892808" cy="128016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555480" y="2523744"/>
            <a:ext cx="1892808" cy="128016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555480" y="2761488"/>
            <a:ext cx="1892808" cy="128016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427464" y="3310128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1B26"/>
                </a:solidFill>
                <a:latin typeface="Calibri"/>
              </a:rPr>
              <a:t>Fix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27464" y="3611880"/>
            <a:ext cx="2148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675"/>
                </a:solidFill>
                <a:latin typeface="Calibri"/>
              </a:rPr>
              <a:t>The actual code change, side by side with the flaw.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7240" y="4846320"/>
            <a:ext cx="10637215" cy="100584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97280" y="5029200"/>
            <a:ext cx="999713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1F6FEB"/>
                </a:solidFill>
                <a:latin typeface="Calibri"/>
              </a:rPr>
              <a:t>Replace this slide with your own screenshots before presenting — the Fix Review screen showing a real diff is the strongest one to show.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02975" y="629107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C96A3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Calibri"/>
              </a:rPr>
              <a:t>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B26"/>
                </a:solidFill>
                <a:latin typeface="Calibri"/>
              </a:rPr>
              <a:t>Where we 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81328"/>
            <a:ext cx="822960" cy="320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7F37"/>
                </a:solidFill>
                <a:latin typeface="Calibri"/>
              </a:rPr>
              <a:t>COMPLETED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5852160" cy="475488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203704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7F37"/>
                </a:solidFill>
                <a:latin typeface="Calibri"/>
              </a:rPr>
              <a:t>Phase 0–2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2203704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675"/>
                </a:solidFill>
                <a:latin typeface="Calibri"/>
              </a:rPr>
              <a:t>Setup, desktop app, project import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651760"/>
            <a:ext cx="5852160" cy="475488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752344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7F37"/>
                </a:solidFill>
                <a:latin typeface="Calibri"/>
              </a:rPr>
              <a:t>Phase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752344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675"/>
                </a:solidFill>
                <a:latin typeface="Calibri"/>
              </a:rPr>
              <a:t>Docker isolation and container lifecycle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200400"/>
            <a:ext cx="5852160" cy="475488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300984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7F37"/>
                </a:solidFill>
                <a:latin typeface="Calibri"/>
              </a:rPr>
              <a:t>Phase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300984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675"/>
                </a:solidFill>
                <a:latin typeface="Calibri"/>
              </a:rPr>
              <a:t>Builder agent and the whole AI layer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49040"/>
            <a:ext cx="5852160" cy="475488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3849624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7F37"/>
                </a:solidFill>
                <a:latin typeface="Calibri"/>
              </a:rPr>
              <a:t>Phase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3849624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675"/>
                </a:solidFill>
                <a:latin typeface="Calibri"/>
              </a:rPr>
              <a:t>Attacker agent and the deterministic checks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297680"/>
            <a:ext cx="5852160" cy="475488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4398264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7F37"/>
                </a:solidFill>
                <a:latin typeface="Calibri"/>
              </a:rPr>
              <a:t>Phase 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4398264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675"/>
                </a:solidFill>
                <a:latin typeface="Calibri"/>
              </a:rPr>
              <a:t>Evaluator agent, severity scoring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846320"/>
            <a:ext cx="5852160" cy="475488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4946904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7F37"/>
                </a:solidFill>
                <a:latin typeface="Calibri"/>
              </a:rPr>
              <a:t>Phase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4946904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675"/>
                </a:solidFill>
                <a:latin typeface="Calibri"/>
              </a:rPr>
              <a:t>Fixer agent and patch safety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394960"/>
            <a:ext cx="5852160" cy="475488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5495544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7F37"/>
                </a:solidFill>
                <a:latin typeface="Calibri"/>
              </a:rPr>
              <a:t>Phase 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5495544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675"/>
                </a:solidFill>
                <a:latin typeface="Calibri"/>
              </a:rPr>
              <a:t>Re-testing and verification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1691640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C96A3"/>
                </a:solidFill>
                <a:latin typeface="Calibri"/>
              </a:rPr>
              <a:t>STILL TO COME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06640" y="2103120"/>
            <a:ext cx="4023360" cy="475488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07808" y="2203704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8C96A3"/>
                </a:solidFill>
                <a:latin typeface="Calibri"/>
              </a:rPr>
              <a:t>Phase 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2203704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675"/>
                </a:solidFill>
                <a:latin typeface="Calibri"/>
              </a:rPr>
              <a:t>Live progress streaming in the UI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2651760"/>
            <a:ext cx="4023360" cy="475488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607808" y="2752344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8C96A3"/>
                </a:solidFill>
                <a:latin typeface="Calibri"/>
              </a:rPr>
              <a:t>Phase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2752344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675"/>
                </a:solidFill>
                <a:latin typeface="Calibri"/>
              </a:rPr>
              <a:t>Exportable reports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06640" y="3200400"/>
            <a:ext cx="4023360" cy="475488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607808" y="3300984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8C96A3"/>
                </a:solidFill>
                <a:latin typeface="Calibri"/>
              </a:rPr>
              <a:t>Phase 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3300984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675"/>
                </a:solidFill>
                <a:latin typeface="Calibri"/>
              </a:rPr>
              <a:t>Full comparison study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06640" y="3886200"/>
            <a:ext cx="4023360" cy="169164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635240" y="406908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1F6FEB"/>
                </a:solidFill>
                <a:latin typeface="Calibri"/>
              </a:rPr>
              <a:t>BUILT SO FAR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443484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675"/>
                </a:solidFill>
                <a:latin typeface="Calibri"/>
              </a:rPr>
              <a:t>171 automated tests, all passing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4818888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675"/>
                </a:solidFill>
                <a:latin typeface="Calibri"/>
              </a:rPr>
              <a:t>5 agents working end to end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5202936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675"/>
                </a:solidFill>
                <a:latin typeface="Calibri"/>
              </a:rPr>
              <a:t>16 specification documents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02975" y="629107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C96A3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Calibri"/>
              </a:rPr>
              <a:t>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B26"/>
                </a:solidFill>
                <a:latin typeface="Calibri"/>
              </a:rPr>
              <a:t>What we ran into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81328"/>
            <a:ext cx="822960" cy="320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10637215" cy="987552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68580" cy="987552"/>
          </a:xfrm>
          <a:prstGeom prst="rect">
            <a:avLst/>
          </a:prstGeom>
          <a:solidFill>
            <a:srgbClr val="9A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0241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B26"/>
                </a:solidFill>
                <a:latin typeface="Calibri"/>
              </a:rPr>
              <a:t>Isolation was harder than expected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76272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675"/>
                </a:solidFill>
                <a:latin typeface="Calibri"/>
              </a:rPr>
              <a:t>Sealing the container off from the network also blocked our own health checks. We had to add a small proxy that sits on both sides.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807208"/>
            <a:ext cx="10637215" cy="987552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7240" y="2807208"/>
            <a:ext cx="68580" cy="987552"/>
          </a:xfrm>
          <a:prstGeom prst="rect">
            <a:avLst/>
          </a:prstGeom>
          <a:solidFill>
            <a:srgbClr val="9A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2944368"/>
            <a:ext cx="10241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B26"/>
                </a:solidFill>
                <a:latin typeface="Calibri"/>
              </a:rPr>
              <a:t>A convincing fix isn't always a good fix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2918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675"/>
                </a:solidFill>
                <a:latin typeface="Calibri"/>
              </a:rPr>
              <a:t>Early on we only checked that the attack stopped working. Then we realised deleting the endpoint would 'pass' that test too.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922776"/>
            <a:ext cx="10637215" cy="987552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7240" y="3922776"/>
            <a:ext cx="68580" cy="987552"/>
          </a:xfrm>
          <a:prstGeom prst="rect">
            <a:avLst/>
          </a:prstGeom>
          <a:solidFill>
            <a:srgbClr val="9A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4059936"/>
            <a:ext cx="10241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B26"/>
                </a:solidFill>
                <a:latin typeface="Calibri"/>
              </a:rPr>
              <a:t>The AI had to be kept on a short leash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407408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675"/>
                </a:solidFill>
                <a:latin typeface="Calibri"/>
              </a:rPr>
              <a:t>We stopped letting it produce file paths or commands directly. It proposes; our code decides whether the proposal is allowed.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038344"/>
            <a:ext cx="10637215" cy="987552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77240" y="5038344"/>
            <a:ext cx="68580" cy="987552"/>
          </a:xfrm>
          <a:prstGeom prst="rect">
            <a:avLst/>
          </a:prstGeom>
          <a:solidFill>
            <a:srgbClr val="9A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5175504"/>
            <a:ext cx="10241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B26"/>
                </a:solidFill>
                <a:latin typeface="Calibri"/>
              </a:rPr>
              <a:t>Testing broke our own 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522976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675"/>
                </a:solidFill>
                <a:latin typeface="Calibri"/>
              </a:rPr>
              <a:t>Our test suite was overwriting the running app's login token. Small bug, but it cost us a lot of confusing debugging.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29107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C96A3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Calibri"/>
              </a:rPr>
              <a:t>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B26"/>
                </a:solidFill>
                <a:latin typeface="Calibri"/>
              </a:rPr>
              <a:t>What's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81328"/>
            <a:ext cx="822960" cy="320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10637215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51560" y="1947672"/>
            <a:ext cx="420624" cy="420624"/>
          </a:xfrm>
          <a:prstGeom prst="ellipse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947672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6FEB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819656"/>
            <a:ext cx="9326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B26"/>
                </a:solidFill>
                <a:latin typeface="Calibri"/>
              </a:rPr>
              <a:t>Live progress in the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148840"/>
            <a:ext cx="9509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675"/>
                </a:solidFill>
                <a:latin typeface="Calibri"/>
              </a:rPr>
              <a:t>Watch each agent work in real time instead of waiting for the result.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752344"/>
            <a:ext cx="10637215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51560" y="3008376"/>
            <a:ext cx="420624" cy="420624"/>
          </a:xfrm>
          <a:prstGeom prst="ellipse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300837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6FEB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880360"/>
            <a:ext cx="9326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B26"/>
                </a:solidFill>
                <a:latin typeface="Calibri"/>
              </a:rPr>
              <a:t>Exportable reports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209544"/>
            <a:ext cx="9509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675"/>
                </a:solidFill>
                <a:latin typeface="Calibri"/>
              </a:rPr>
              <a:t>A document a developer can act on without opening our app.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813048"/>
            <a:ext cx="10637215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51560" y="4069080"/>
            <a:ext cx="420624" cy="420624"/>
          </a:xfrm>
          <a:prstGeom prst="ellipse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406908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6FEB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941064"/>
            <a:ext cx="9326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B26"/>
                </a:solidFill>
                <a:latin typeface="Calibri"/>
              </a:rPr>
              <a:t>More vulnerability types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270248"/>
            <a:ext cx="9509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675"/>
                </a:solidFill>
                <a:latin typeface="Calibri"/>
              </a:rPr>
              <a:t>We deliberately started with three we can prove. Next: server-side request forgery and rate-limit abuse.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873752"/>
            <a:ext cx="10637215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51560" y="5129784"/>
            <a:ext cx="420624" cy="420624"/>
          </a:xfrm>
          <a:prstGeom prst="ellipse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1560" y="5129784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6FEB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001768"/>
            <a:ext cx="9326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B26"/>
                </a:solidFill>
                <a:latin typeface="Calibri"/>
              </a:rPr>
              <a:t>The comparison study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5330952"/>
            <a:ext cx="9509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675"/>
                </a:solidFill>
                <a:latin typeface="Calibri"/>
              </a:rPr>
              <a:t>Measure our approach against a traditional scanner and a single-agent setup, on the same projects, with proper statistics.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29107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C96A3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210312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141B26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017520"/>
            <a:ext cx="9326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A6675"/>
                </a:solidFill>
                <a:latin typeface="Calibri"/>
              </a:rPr>
              <a:t>A security tool is only useful if you can trust what it tells you. That is what we set out to build.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977639"/>
            <a:ext cx="822960" cy="320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438912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41B26"/>
                </a:solidFill>
                <a:latin typeface="Calibri"/>
              </a:rPr>
              <a:t>Zaid Sayyed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1B26"/>
                </a:solidFill>
                <a:latin typeface="Calibri"/>
              </a:rPr>
              <a:t>Chirag Kadam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443484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6FEB"/>
                </a:solidFill>
                <a:latin typeface="Calibri"/>
              </a:rPr>
              <a:t>Questions welcome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29107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C96A3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1373</Words>
  <Application>Microsoft Office PowerPoint</Application>
  <PresentationFormat>Widescreen</PresentationFormat>
  <Paragraphs>215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Zaid Sayyed</cp:lastModifiedBy>
  <cp:revision>2</cp:revision>
  <dcterms:created xsi:type="dcterms:W3CDTF">2013-01-27T09:14:16Z</dcterms:created>
  <dcterms:modified xsi:type="dcterms:W3CDTF">2026-09-10T08:28:16Z</dcterms:modified>
  <cp:category/>
</cp:coreProperties>
</file>